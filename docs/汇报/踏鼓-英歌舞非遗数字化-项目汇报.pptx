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17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开场：这是英歌舞主题的游戏《踏鼓》。一句话——鼓点是节拍器，合拍就是伤害倍率。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六个板块：先讲做什么，再讲怎么分工、怎么做、创新在哪、做到什么程度、最后成果与展望。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七次课是双线并行的：教学线逐次加动作，开发线逐次推进原型。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收尾：邀请老师和其他小组同学试玩，现场收集反馈。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I_APP\TRAE_WORK_data_YingGe\docs\screenshots\02_comb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50C">
              <a:alpha val="7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0" y="2788920"/>
            <a:ext cx="12191695" cy="2834640"/>
          </a:xfrm>
          <a:prstGeom prst="rect">
            <a:avLst/>
          </a:prstGeom>
          <a:solidFill>
            <a:srgbClr val="1E0F08">
              <a:alpha val="8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66928" y="932688"/>
            <a:ext cx="1371600" cy="4114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66928" y="107899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40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潮汕英歌舞非遗数字化传承与创新实践 · 第 8 小组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2724912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600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 鼓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66928" y="3639312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Drumbeat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66928" y="41330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一款跟着锣鼓鼓点打的英歌舞横版动作闯关游戏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4626864"/>
            <a:ext cx="110578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D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技艺教学 + 数字开发 二元实践 ｜ 两项核心产出 ｜ 7 次课完成原型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5413248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7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课程：服务型劳动课——非遗数字化　　策划日期：2026 年 10 月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 CONTENT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1892808"/>
            <a:ext cx="6858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35608" y="18745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81728" y="1929384"/>
            <a:ext cx="69430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两项核心产出与二元实践路径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386584"/>
            <a:ext cx="11057839" cy="10973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66928" y="2642616"/>
            <a:ext cx="6858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35608" y="26243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1728" y="2679192"/>
            <a:ext cx="69430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教学组 5 人 · 开发组 6 人，职责到人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136392"/>
            <a:ext cx="11057839" cy="10973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66928" y="3392424"/>
            <a:ext cx="6858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35608" y="33741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游戏方案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81728" y="3429000"/>
            <a:ext cx="69430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合拍判定 · 数据驱动 · 三关设计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11057839" cy="10973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66928" y="4142232"/>
            <a:ext cx="6858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35608" y="41239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方案创新点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81728" y="4178808"/>
            <a:ext cx="69430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以非遗鼓点为核心判定机制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636008"/>
            <a:ext cx="11057839" cy="10973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66928" y="4892040"/>
            <a:ext cx="6858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35608" y="48737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进度与可行性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81728" y="4928616"/>
            <a:ext cx="69430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已完成两个里程碑，风险有应对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385816"/>
            <a:ext cx="11057839" cy="10973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6928" y="5641848"/>
            <a:ext cx="6858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35608" y="5623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成果与展望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81728" y="5678424"/>
            <a:ext cx="69430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从课堂走向校园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6135624"/>
            <a:ext cx="11057839" cy="10973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371600"/>
            <a:ext cx="4754880" cy="4754880"/>
          </a:xfrm>
          <a:prstGeom prst="ellipse">
            <a:avLst/>
          </a:prstGeom>
          <a:solidFill>
            <a:srgbClr val="C8302E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728655" y="4206240"/>
            <a:ext cx="3108960" cy="3108960"/>
          </a:xfrm>
          <a:prstGeom prst="ellipse">
            <a:avLst/>
          </a:prstGeom>
          <a:solidFill>
            <a:srgbClr val="C08A2A">
              <a:alpha val="1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66928" y="2395728"/>
            <a:ext cx="1097280" cy="4114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280160" cy="6400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52374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798064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项目概述与目标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3749040"/>
            <a:ext cx="9229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6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以国家级非遗英歌舞为核心对象，技艺教学与数字开发并行推进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GOALS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四个目标都可量化核对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572436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2572436" cy="68580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4672" y="2276856"/>
            <a:ext cx="2115236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689" y="2258568"/>
            <a:ext cx="2115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689" y="2752344"/>
            <a:ext cx="2115236" cy="196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次课（14 </a:t>
            </a: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课时）内完成两项核心产出</a:t>
            </a: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</a:t>
            </a:r>
            <a:r>
              <a:rPr lang="zh-CN" alt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</a:t>
            </a:r>
            <a:r>
              <a:rPr lang="en-US" sz="1600" b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r>
              <a:rPr lang="zh-CN" alt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</a:t>
            </a:r>
            <a:r>
              <a:rPr lang="en-US" sz="1600" b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教学体系</a:t>
            </a:r>
            <a:endParaRPr lang="en-US" sz="1600" b="1" dirty="0">
              <a:solidFill>
                <a:srgbClr val="7C685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一款含</a:t>
            </a:r>
            <a:r>
              <a:rPr 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 关的可玩游戏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3395396" y="1965960"/>
            <a:ext cx="2572436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95396" y="1965960"/>
            <a:ext cx="2572436" cy="6858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633140" y="2295144"/>
            <a:ext cx="2115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3140" y="2752343"/>
            <a:ext cx="2115236" cy="1966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节选</a:t>
            </a:r>
            <a:r>
              <a:rPr 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握槌、转槌、击槌、后抬腿提颠步、马步背槌、旋槌</a:t>
            </a: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等简单动作分解教学；零基础同学可完整展示一套短组合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3864" y="1965960"/>
            <a:ext cx="2572436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223864" y="1965960"/>
            <a:ext cx="2572436" cy="68580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61608" y="2295144"/>
            <a:ext cx="2115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游戏目标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4921" y="2752344"/>
            <a:ext cx="229462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玩家踩着锣鼓鼓点完成</a:t>
            </a:r>
            <a:endParaRPr lang="en-US" sz="1400" dirty="0">
              <a:solidFill>
                <a:srgbClr val="7C685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「跑、跳、击槌」</a:t>
            </a: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与对击弹反，通关 3 </a:t>
            </a: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个关卡</a:t>
            </a: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踩准判定点可获得伤害倍率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331" y="1947672"/>
            <a:ext cx="2572436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052331" y="1965960"/>
            <a:ext cx="2572436" cy="6858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290075" y="2295144"/>
            <a:ext cx="2115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传播目标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95758" y="2752344"/>
            <a:ext cx="2329133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教学与游戏成果</a:t>
            </a:r>
            <a:r>
              <a:rPr lang="zh-CN" alt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做成视频等传媒，</a:t>
            </a: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推广至校内其他班级或社团，并发布至网页平台供更多人体验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OUTPUTS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两项核心产出：教得会，也玩得起来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18288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英歌舞基础动作教学体系：</a:t>
            </a:r>
            <a:endParaRPr lang="en-US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从英歌舞中节选简单、易上手的动作做分解教学，形成教学讲义与教学视频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66928" y="2871216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04672" y="2798064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英歌主题横版动作闯关游戏：</a:t>
            </a:r>
            <a:endParaRPr lang="en-US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以真实英歌像素素材与锣鼓鼓点为核心，完成 3 个关卡的可玩版本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66928" y="3840480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4672" y="3767328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二元实践路径：</a:t>
            </a:r>
            <a:endParaRPr lang="en-US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技艺教学与数字开发同步推进，教学动作直接对应游戏招式，两条产出互相支撑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66928" y="4809744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4672" y="4736592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真实素材驱动：</a:t>
            </a:r>
            <a:endParaRPr lang="en-US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游戏素材由本组用豆包图像模型生成，再经抠图、分帧、像素化处理接入游戏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七次课双线并行，任务量匹配课时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389888" y="2743200"/>
            <a:ext cx="9411919" cy="32004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243584" y="2615184"/>
            <a:ext cx="292608" cy="292608"/>
          </a:xfrm>
          <a:prstGeom prst="ellipse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43584" y="2642616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9019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文化认知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6675" y="2185416"/>
            <a:ext cx="21464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项目启动 · 文化讲座 · 握槌体验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2237" y="2615184"/>
            <a:ext cx="292608" cy="292608"/>
          </a:xfrm>
          <a:prstGeom prst="ellipse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812237" y="2642616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89861" y="305409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基本动作一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97811" y="3328416"/>
            <a:ext cx="1929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转槌 · </a:t>
            </a:r>
            <a:r>
              <a:rPr lang="en-US" sz="105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击槌</a:t>
            </a: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0890" y="2615184"/>
            <a:ext cx="292608" cy="292608"/>
          </a:xfrm>
          <a:prstGeom prst="ellipse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80890" y="2642616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8514" y="19019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基本动作二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34613" y="2167128"/>
            <a:ext cx="19830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步伐</a:t>
            </a: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旋槌 · 组合初成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9544" y="2615184"/>
            <a:ext cx="292608" cy="292608"/>
          </a:xfrm>
          <a:prstGeom prst="ellipse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949544" y="2642616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7168" y="305409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 + 开发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1142" y="3274673"/>
            <a:ext cx="20977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槌法与步伐</a:t>
            </a:r>
            <a:r>
              <a:rPr lang="en-US" sz="105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素材接入游戏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18197" y="2615184"/>
            <a:ext cx="292608" cy="292608"/>
          </a:xfrm>
          <a:prstGeom prst="ellipse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518197" y="2642616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5821" y="19019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 + 关卡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95821" y="21762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动作成套 · 三关设计讨论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86850" y="2615184"/>
            <a:ext cx="292608" cy="292608"/>
          </a:xfrm>
          <a:prstGeom prst="ellipse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086850" y="2642616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4474" y="305409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整合彩排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84257" y="3311853"/>
            <a:ext cx="209779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成果排练 · </a:t>
            </a:r>
            <a:r>
              <a:rPr lang="en-US" sz="105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录视频</a:t>
            </a: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游戏测试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655503" y="2615184"/>
            <a:ext cx="292608" cy="292608"/>
          </a:xfrm>
          <a:prstGeom prst="ellipse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655503" y="2642616"/>
            <a:ext cx="292608" cy="2377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33127" y="19019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展示总结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87464" y="2176272"/>
            <a:ext cx="19830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集体展演 · 游戏演示 · 汇报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4617720"/>
            <a:ext cx="110578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1–6 次课完成教学与开发推进，第 7 次课成果展示与总结</a:t>
            </a:r>
            <a:endParaRPr lang="en-US" sz="2000" b="1" dirty="0"/>
          </a:p>
        </p:txBody>
      </p:sp>
      <p:sp>
        <p:nvSpPr>
          <p:cNvPr id="35" name="Text 33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371600"/>
            <a:ext cx="4754880" cy="4754880"/>
          </a:xfrm>
          <a:prstGeom prst="ellipse">
            <a:avLst/>
          </a:prstGeom>
          <a:solidFill>
            <a:srgbClr val="C8302E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728655" y="4206240"/>
            <a:ext cx="3108960" cy="3108960"/>
          </a:xfrm>
          <a:prstGeom prst="ellipse">
            <a:avLst/>
          </a:prstGeom>
          <a:solidFill>
            <a:srgbClr val="C08A2A">
              <a:alpha val="1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66928" y="2395728"/>
            <a:ext cx="1097280" cy="4114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280160" cy="6400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52374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798064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小组分工与协作机制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3749040"/>
            <a:ext cx="9229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6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人分两组，职责到人，进度公开可查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ROLES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分工到人，职责清晰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46040" cy="393192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46040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4672" y="1947672"/>
            <a:ext cx="488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英歌舞动作教学组（5 人）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660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梁铭贵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320954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孙政彰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00936" y="265624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吴彩云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79676" y="320954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翁泽荣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4672" y="3764999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李舒达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4672" y="4348662"/>
            <a:ext cx="4888840" cy="1604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老师现场示范、逐组纠错，先单手后双手、先原地后行进</a:t>
            </a:r>
            <a:r>
              <a:rPr lang="en-US" sz="1400" b="1" i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buNone/>
            </a:pPr>
            <a:endParaRPr lang="en-US" sz="1400" b="1" i="1" dirty="0">
              <a:solidFill>
                <a:srgbClr val="7C6855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</a:rPr>
              <a:t>教学的同时拍照收集素材，建立本地</a:t>
            </a:r>
            <a:r>
              <a:rPr lang="en-US" altLang="zh-CN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</a:rPr>
              <a:t>500G</a:t>
            </a:r>
            <a:r>
              <a:rPr lang="zh-CN" alt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</a:rPr>
              <a:t>存储库，保证素材收集保存，保证后续使用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6278728" y="1874520"/>
            <a:ext cx="5346040" cy="393192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78728" y="1874520"/>
            <a:ext cx="5346040" cy="566928"/>
          </a:xfrm>
          <a:prstGeom prst="rect">
            <a:avLst/>
          </a:prstGeom>
          <a:solidFill>
            <a:srgbClr val="D17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16472" y="1947672"/>
            <a:ext cx="488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英歌游戏开发组（6 人）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16472" y="26609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李舒达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50328" y="2660904"/>
            <a:ext cx="3736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总体架构、合拍判定与音频时钟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6472" y="32278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李玉赫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50328" y="3227832"/>
            <a:ext cx="3736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美术与素材（角色 / 场景 / UI）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6472" y="3794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陈圣源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50328" y="3794760"/>
            <a:ext cx="3736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运动手感与三个关卡设计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6472" y="43616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陈东阳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650328" y="4361688"/>
            <a:ext cx="3736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战斗系统、对击弹反与敌人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16472" y="492861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李佳泰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50328" y="4928616"/>
            <a:ext cx="3736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锣鼓音效、板式切换与节拍校验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16472" y="549554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沈豫辉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650328" y="5495544"/>
            <a:ext cx="3736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测试、手感调参、打包与宣传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62908" y="5804887"/>
            <a:ext cx="488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每周例会 + </a:t>
            </a:r>
            <a:r>
              <a:rPr lang="en-US" sz="1200" b="1" i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课后任务</a:t>
            </a:r>
            <a:r>
              <a:rPr lang="en-US" sz="1200" b="1" i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进度记录在仓库《项目进度.md》</a:t>
            </a:r>
            <a:endParaRPr lang="en-US" sz="1200" b="1" dirty="0"/>
          </a:p>
        </p:txBody>
      </p:sp>
      <p:sp>
        <p:nvSpPr>
          <p:cNvPr id="35" name="Text 33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371600"/>
            <a:ext cx="4754880" cy="4754880"/>
          </a:xfrm>
          <a:prstGeom prst="ellipse">
            <a:avLst/>
          </a:prstGeom>
          <a:solidFill>
            <a:srgbClr val="C8302E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728655" y="4206240"/>
            <a:ext cx="3108960" cy="3108960"/>
          </a:xfrm>
          <a:prstGeom prst="ellipse">
            <a:avLst/>
          </a:prstGeom>
          <a:solidFill>
            <a:srgbClr val="C08A2A">
              <a:alpha val="1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66928" y="2395728"/>
            <a:ext cx="1097280" cy="4114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280160" cy="6400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52374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798064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游戏开发方案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3749040"/>
            <a:ext cx="9229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6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把英歌舞的节奏感，翻译成可上手的操作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MECHANIC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踩准锣鼓</a:t>
            </a:r>
            <a:r>
              <a:rPr lang="zh-CN" alt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2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鼓点出招，伤害更高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583680" cy="3703320"/>
          </a:xfrm>
          <a:prstGeom prst="rect">
            <a:avLst/>
          </a:prstGeom>
          <a:solidFill>
            <a:srgbClr val="43291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D:\AI_APP\TRAE_WORK_data_YingGe\docs\screenshots\01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658368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468112"/>
            <a:ext cx="6583680" cy="1828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66928" y="55778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实机demo截图：祠堂廊柱赛段，判定圈随鼓点收缩</a:t>
            </a:r>
            <a:endParaRPr lang="en-US" sz="1400" b="1" dirty="0"/>
          </a:p>
        </p:txBody>
      </p:sp>
      <p:sp>
        <p:nvSpPr>
          <p:cNvPr id="9" name="Shape 6"/>
          <p:cNvSpPr/>
          <p:nvPr/>
        </p:nvSpPr>
        <p:spPr>
          <a:xfrm>
            <a:off x="7607808" y="1892808"/>
            <a:ext cx="45720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808976" y="1892808"/>
            <a:ext cx="374263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踩点即倍率：</a:t>
            </a: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判定点固定落在每小节第</a:t>
            </a: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 拍，踩准可获得伤害倍率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07808" y="2953512"/>
            <a:ext cx="45720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808976" y="2953512"/>
            <a:ext cx="374263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按键帧锚点：</a:t>
            </a: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完美窗口 ±40ms、合拍窗口 ±80ms，反馈在按键帧立即触发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07808" y="4014216"/>
            <a:ext cx="45720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808976" y="4014216"/>
            <a:ext cx="374263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音频时钟驱动：</a:t>
            </a: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判定由音频时钟计算，帧率波动不影响判定结果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07808" y="5074920"/>
            <a:ext cx="45720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808976" y="5074920"/>
            <a:ext cx="374263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空挥不惩罚伤害：</a:t>
            </a:r>
            <a:endParaRPr lang="en-US" sz="1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空挥仍保留音效与判定反馈，只是不给伤害与鼓劲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 + 素材驱动，零基础也能推进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572436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2572436" cy="68580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4672" y="2276856"/>
            <a:ext cx="2115236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2115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337560"/>
            <a:ext cx="21152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 + pygame + numpy + sounddevice，全部免费；可打包 Windows 可执行文件或发布网页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5396" y="1965960"/>
            <a:ext cx="2572436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95396" y="1965960"/>
            <a:ext cx="2572436" cy="6858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633140" y="2276856"/>
            <a:ext cx="2115236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302E"/>
                </a:solidFill>
                <a:latin typeface="Arial" pitchFamily="34" charset="0"/>
                <a:cs typeface="Arial" pitchFamily="34" charset="-120"/>
              </a:rPr>
              <a:t>Data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33140" y="2898648"/>
            <a:ext cx="2115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3140" y="3337560"/>
            <a:ext cx="21152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手感、节奏、动作帧、关卡、辅助参数全部写成 JSON 表；改数值不改代码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3864" y="1965960"/>
            <a:ext cx="2572436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223864" y="1965960"/>
            <a:ext cx="2572436" cy="68580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61608" y="2276856"/>
            <a:ext cx="2115236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302E"/>
                </a:solidFill>
                <a:latin typeface="Arial" pitchFamily="34" charset="0"/>
                <a:cs typeface="Arial" pitchFamily="34" charset="-120"/>
              </a:rPr>
              <a:t>Art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61608" y="2898648"/>
            <a:ext cx="2115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像素素材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1608" y="3337560"/>
            <a:ext cx="21152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</a:t>
            </a:r>
            <a:r>
              <a:rPr lang="zh-CN" alt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r>
              <a:rPr lang="en-US" altLang="zh-CN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zh-CN" alt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r>
              <a:rPr 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2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敌人</a:t>
            </a:r>
            <a:r>
              <a:rPr 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</a:t>
            </a:r>
            <a:r>
              <a:rPr lang="zh-CN" alt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r>
              <a:rPr 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</a:t>
            </a:r>
            <a:r>
              <a:rPr lang="en-US" sz="12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r>
              <a:rPr 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</a:t>
            </a:r>
            <a:r>
              <a:rPr lang="zh-CN" alt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</a:t>
            </a:r>
            <a:r>
              <a:rPr 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UI ，统一抠图、分帧与整数倍缩放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331" y="1965960"/>
            <a:ext cx="2572436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052331" y="1965960"/>
            <a:ext cx="2572436" cy="6858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290075" y="2276856"/>
            <a:ext cx="2115236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290075" y="2898648"/>
            <a:ext cx="2115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开发方式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90075" y="3337560"/>
            <a:ext cx="21152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+ AI 模型辅助编程；把「如何用 AI 一步步做完」固化为带验收标准的路线图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SIX SYSTEMS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玩法系统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04747"/>
              </p:ext>
            </p:extLst>
          </p:nvPr>
        </p:nvGraphicFramePr>
        <p:xfrm>
          <a:off x="566928" y="1783080"/>
          <a:ext cx="11057839" cy="396849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5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7E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7E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7E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规则要点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525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合拍判定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按键帧锚点；完美 ±40ms / 合拍 ±80ms；音频时钟驱动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525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锣鼓板式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慢板</a:t>
                      </a: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60 / </a:t>
                      </a: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中板</a:t>
                      </a: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90 / </a:t>
                      </a: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快板</a:t>
                      </a: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110 / </a:t>
                      </a: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极板</a:t>
                      </a: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140 </a:t>
                      </a: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BPM；仅在小节边界换板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525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运动手感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固定步长 1/120s；疾行、腾跃、二段跳、</a:t>
                      </a:r>
                      <a:r>
                        <a:rPr lang="zh-CN" alt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闪避</a:t>
                      </a: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、矮子步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525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帧数据战斗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挥槌三段、凌空挥槌两段、劈山、对击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525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对击弹反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敌人命中前 100ms </a:t>
                      </a: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内按</a:t>
                      </a:r>
                      <a:r>
                        <a:rPr lang="zh-CN" alt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攻击</a:t>
                      </a: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触发；成功硬直并加鼓劲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525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鼓劲与满堂彩</a:t>
                      </a:r>
                      <a:b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</a:br>
                      <a:r>
                        <a:rPr lang="zh-CN" altLang="en-US" sz="1150" b="1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鼓劲满了可以释放满堂彩大招</a:t>
                      </a:r>
                      <a:endParaRPr lang="en-US" sz="1150" b="1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C68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疾行 + 命中 + 合拍倍率 + 弹反叠加；满槽且连段 ≥4 释放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100584" marB="100584" anchor="ctr">
                    <a:lnL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三关递进：从教学到 Boss 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15258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515258" cy="68580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4672" y="2276856"/>
            <a:ext cx="3058058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英歌初醒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337560"/>
            <a:ext cx="30580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慢板</a:t>
            </a:r>
            <a:r>
              <a:rPr 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60 BPM；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基础的鼓声</a:t>
            </a:r>
            <a:r>
              <a:rPr lang="zh-CN" alt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，容易听出来节奏，更容易触发</a:t>
            </a:r>
            <a:r>
              <a:rPr lang="en-US" altLang="zh-CN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</a:t>
            </a:r>
            <a:r>
              <a:rPr lang="zh-CN" alt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鼓劲</a:t>
            </a:r>
            <a:r>
              <a:rPr lang="en-US" altLang="zh-CN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教学移动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击槌 + </a:t>
            </a: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合拍判定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</a:p>
        </p:txBody>
      </p:sp>
      <p:sp>
        <p:nvSpPr>
          <p:cNvPr id="10" name="Shape 8"/>
          <p:cNvSpPr/>
          <p:nvPr/>
        </p:nvSpPr>
        <p:spPr>
          <a:xfrm>
            <a:off x="4338218" y="1965960"/>
            <a:ext cx="3515258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338218" y="1965960"/>
            <a:ext cx="3515258" cy="6858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75962" y="2276856"/>
            <a:ext cx="3058058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5962" y="289864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双龙出海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5962" y="3337560"/>
            <a:ext cx="30580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中板</a:t>
            </a:r>
            <a:r>
              <a:rPr 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90 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快板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110；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加入其它乐器声音：</a:t>
            </a:r>
            <a:r>
              <a:rPr lang="zh-CN" alt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锣、镲</a:t>
            </a:r>
            <a:r>
              <a:rPr lang="zh-CN" alt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600" dirty="0">
              <a:solidFill>
                <a:srgbClr val="7C6855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教学跳跃、对击弹反与抢步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骑楼街景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9509" y="1965960"/>
            <a:ext cx="3515258" cy="3200400"/>
          </a:xfrm>
          <a:prstGeom prst="rect">
            <a:avLst/>
          </a:prstGeom>
          <a:solidFill>
            <a:srgbClr val="FFF7E9"/>
          </a:solidFill>
          <a:ln w="12700">
            <a:solidFill>
              <a:srgbClr val="E3D0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109509" y="1965960"/>
            <a:ext cx="3515258" cy="68580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347253" y="2276856"/>
            <a:ext cx="3058058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47253" y="2898648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战舞传承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47253" y="3337560"/>
            <a:ext cx="30580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快板</a:t>
            </a:r>
            <a:r>
              <a:rPr 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110 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极板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140；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综合运用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满堂彩终结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关底</a:t>
            </a:r>
            <a:r>
              <a:rPr lang="en-US" sz="16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Boss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371600"/>
            <a:ext cx="4754880" cy="4754880"/>
          </a:xfrm>
          <a:prstGeom prst="ellipse">
            <a:avLst/>
          </a:prstGeom>
          <a:solidFill>
            <a:srgbClr val="C8302E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728655" y="4206240"/>
            <a:ext cx="3108960" cy="3108960"/>
          </a:xfrm>
          <a:prstGeom prst="ellipse">
            <a:avLst/>
          </a:prstGeom>
          <a:solidFill>
            <a:srgbClr val="C08A2A">
              <a:alpha val="1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66928" y="2395728"/>
            <a:ext cx="1097280" cy="4114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280160" cy="6400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52374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798064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方案创新点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3749040"/>
            <a:ext cx="9229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6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以非遗鼓点作为核心判定机制，是本方案最独特的地方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六个创新点，从机制到流程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18288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节奏化操作机制：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把英歌锣鼓鼓点直接当作判定节拍器，踩准每小节第</a:t>
            </a: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 拍出招即可获得伤害倍率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5877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判定由音频时钟驱动：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帧率波动不影响判定结果，手感稳定可预期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2735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4672" y="32004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真实素材驱动：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像素素材由本组用 AI 生成，并配套抠图、分帧、统一缩放的标准化处理流程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9593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4672" y="38862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数据驱动架构：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手感、节奏、动作帧、关卡全部走 JSON 数据表，便于借助 AI 快速迭代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6451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04672" y="45720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教学与游戏双向验证：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教学动作对应游戏招式，游戏又可反过来展示教学成果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53309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4672" y="52578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协作开发流程：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把「如何用 AI 一步步做完」固化为带验收标准的里程碑路线图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371600"/>
            <a:ext cx="4754880" cy="4754880"/>
          </a:xfrm>
          <a:prstGeom prst="ellipse">
            <a:avLst/>
          </a:prstGeom>
          <a:solidFill>
            <a:srgbClr val="C8302E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728655" y="4206240"/>
            <a:ext cx="3108960" cy="3108960"/>
          </a:xfrm>
          <a:prstGeom prst="ellipse">
            <a:avLst/>
          </a:prstGeom>
          <a:solidFill>
            <a:srgbClr val="C08A2A">
              <a:alpha val="1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66928" y="2395728"/>
            <a:ext cx="1097280" cy="4114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280160" cy="6400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52374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60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798064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开发进度与可行性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3749040"/>
            <a:ext cx="9229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6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已完成两个里程碑，关键指标经过实跑验证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r>
              <a:rPr lang="en-US" sz="2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</a:t>
            </a:r>
            <a:r>
              <a:rPr lang="zh-CN" alt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</a:t>
            </a:r>
            <a:r>
              <a:rPr lang="en-US" sz="2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583680" cy="3703320"/>
          </a:xfrm>
          <a:prstGeom prst="rect">
            <a:avLst/>
          </a:prstGeom>
          <a:solidFill>
            <a:srgbClr val="43291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D:\AI_APP\TRAE_WORK_data_YingGe\docs\screenshots\03_clea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658368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468112"/>
            <a:ext cx="6583680" cy="1828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66928" y="55778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实机截图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07808" y="1892808"/>
            <a:ext cx="45720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808976" y="1892808"/>
            <a:ext cx="374263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</a:t>
            </a:r>
            <a:r>
              <a:rPr lang="en-US" sz="20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可玩原型（已</a:t>
            </a:r>
            <a:r>
              <a:rPr lang="zh-CN" alt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大致</a:t>
            </a:r>
            <a:r>
              <a:rPr lang="en-US" sz="20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r>
              <a:rPr 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</a:p>
        </p:txBody>
      </p:sp>
      <p:sp>
        <p:nvSpPr>
          <p:cNvPr id="11" name="Shape 8"/>
          <p:cNvSpPr/>
          <p:nvPr/>
        </p:nvSpPr>
        <p:spPr>
          <a:xfrm>
            <a:off x="7607808" y="2953512"/>
            <a:ext cx="45720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808976" y="2953512"/>
            <a:ext cx="374263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</a:t>
            </a:r>
            <a:r>
              <a:rPr lang="en-US" sz="20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素材接入</a:t>
            </a:r>
            <a:r>
              <a:rPr 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zh-CN" altLang="en-US" sz="2000" b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r>
              <a:rPr lang="en-US" sz="2000" b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607808" y="4014216"/>
            <a:ext cx="45720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808976" y="4014216"/>
            <a:ext cx="374263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</a:t>
            </a:r>
            <a:r>
              <a:rPr lang="en-US" sz="20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玩法补全（进行中</a:t>
            </a:r>
            <a:r>
              <a:rPr 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2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补齐招式动画与敌人种类，完成第 2、3 关与结算界面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07808" y="5074920"/>
            <a:ext cx="45720" cy="822960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808976" y="5074920"/>
            <a:ext cx="3742639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音频与发布（未开始）：</a:t>
            </a:r>
            <a:endParaRPr lang="en-US" sz="2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四档板式锣鼓音频</a:t>
            </a:r>
            <a:r>
              <a:rPr lang="zh-CN" alt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</a:t>
            </a:r>
            <a:r>
              <a:rPr lang="en-US" sz="14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4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试玩调参、打包发布与展示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图形用户界面, 网站&#10;&#10;AI 生成的内容可能不正确。">
            <a:extLst>
              <a:ext uri="{FF2B5EF4-FFF2-40B4-BE49-F238E27FC236}">
                <a16:creationId xmlns:a16="http://schemas.microsoft.com/office/drawing/2014/main" id="{A26544EC-356E-93C4-CB43-F36F91F6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99" y="2356482"/>
            <a:ext cx="2346666" cy="266624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FEASIBILITY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工具免费、任务已拆解、预算可控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18288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全部工具免费（Trae、Python、pygame），零基础可上手；合拍判定、音频时钟等关键技术已在原型中跑通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5877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时间可行：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次课 14 课时的教学与开发任务已按次课拆解，开发已完成两个里程碑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2735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4672" y="32004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经费可行：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总预算 </a:t>
            </a:r>
            <a:r>
              <a:rPr lang="en-US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 元</a:t>
            </a: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，仅用于</a:t>
            </a:r>
            <a:r>
              <a:rPr lang="en-US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英歌槌与耗材</a:t>
            </a: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；软件与素材生成无额外支出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9593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4672" y="38862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</a:t>
            </a:r>
            <a:r>
              <a:rPr lang="zh-CN" alt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</a:t>
            </a: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先出「定妆图」，之后每个动作状态都以定妆图 + </a:t>
            </a:r>
            <a:r>
              <a:rPr lang="en-US" sz="13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妆造照片为参考图生成，避免</a:t>
            </a:r>
            <a:r>
              <a:rPr lang="zh-CN" alt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游戏角色变脸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6451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04672" y="45720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</a:t>
            </a:r>
            <a:r>
              <a:rPr lang="zh-CN" alt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</a:t>
            </a: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按「先跑通原型 → 再接入素材 → 最后补内容」推进，保证任何时候都有可演示版本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53309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4672" y="52578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r>
              <a:rPr lang="zh-CN" alt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</a:t>
            </a: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次课内只做 3 个关卡，不做成长系统与联网功能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pic>
        <p:nvPicPr>
          <p:cNvPr id="20" name="图片 19" descr="文本&#10;&#10;AI 生成的内容可能不正确。">
            <a:extLst>
              <a:ext uri="{FF2B5EF4-FFF2-40B4-BE49-F238E27FC236}">
                <a16:creationId xmlns:a16="http://schemas.microsoft.com/office/drawing/2014/main" id="{B65DAC29-4125-6363-ECD4-4C74ED06A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617" y="1393803"/>
            <a:ext cx="2045236" cy="2725350"/>
          </a:xfrm>
          <a:prstGeom prst="rect">
            <a:avLst/>
          </a:prstGeom>
        </p:spPr>
      </p:pic>
      <p:pic>
        <p:nvPicPr>
          <p:cNvPr id="24" name="图片 23" descr="图片包含 文本&#10;&#10;AI 生成的内容可能不正确。">
            <a:extLst>
              <a:ext uri="{FF2B5EF4-FFF2-40B4-BE49-F238E27FC236}">
                <a16:creationId xmlns:a16="http://schemas.microsoft.com/office/drawing/2014/main" id="{C095E5CB-7D44-A9D3-C4A2-CF142FD10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80" y="4179763"/>
            <a:ext cx="1951510" cy="23899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C83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</a:t>
            </a:r>
            <a:r>
              <a:rPr lang="en-US" sz="2500" b="1" dirty="0" err="1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成果产出与项目展望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7839" cy="18288"/>
          </a:xfrm>
          <a:prstGeom prst="rect">
            <a:avLst/>
          </a:prstGeom>
          <a:solidFill>
            <a:srgbClr val="E3D0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182880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成果产出：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一套英歌舞简单动作组合教学</a:t>
            </a:r>
            <a:r>
              <a:rPr lang="zh-CN" alt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3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一款含</a:t>
            </a: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 </a:t>
            </a:r>
            <a:r>
              <a:rPr lang="en-US" sz="13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关的英歌主题游戏原型、教学</a:t>
            </a:r>
            <a:r>
              <a:rPr lang="zh-CN" alt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72491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开源归档：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源码、像素素材与设计文档托管于 GitHub（含《项目进度.md》记录问题与下一步）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54787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4672" y="347472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短期目标：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次课后完成两项核心产出的原型版本，在课程成果展示中呈现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37083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4672" y="4265836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中期展望：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 err="1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推广至校内其他班级或社团</a:t>
            </a: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zh-CN" alt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有望融入</a:t>
            </a:r>
            <a:r>
              <a:rPr lang="zh-CN" altLang="en-US" sz="16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动作识别</a:t>
            </a:r>
            <a:r>
              <a:rPr lang="zh-CN" alt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的功能，使得玩家通过</a:t>
            </a:r>
            <a:r>
              <a:rPr lang="zh-CN" altLang="en-US" sz="1400" b="1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做出相应的英歌动作来触发游戏角色的行动</a:t>
            </a:r>
            <a:endParaRPr lang="en-US" sz="1500" b="1" dirty="0"/>
          </a:p>
        </p:txBody>
      </p:sp>
      <p:sp>
        <p:nvSpPr>
          <p:cNvPr id="13" name="Shape 11"/>
          <p:cNvSpPr/>
          <p:nvPr/>
        </p:nvSpPr>
        <p:spPr>
          <a:xfrm>
            <a:off x="566928" y="5193792"/>
            <a:ext cx="50292" cy="566928"/>
          </a:xfrm>
          <a:prstGeom prst="rect">
            <a:avLst/>
          </a:prstGeom>
          <a:solidFill>
            <a:srgbClr val="C830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04672" y="5120640"/>
            <a:ext cx="1078351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525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长期价值：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探索「非遗 + 数字技术」的融合模式，为潮汕非遗的年轻化传播提供可复制的实践案例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103263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68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踏鼓 / Project Drumbeat  ·  潮汕英歌舞非遗数字化传承与创新实践 · 第 8 小组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76127" y="6345936"/>
            <a:ext cx="5486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FE95AC4-D60B-F4CE-6807-9DC2450EB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822" y="1404048"/>
            <a:ext cx="3508305" cy="29715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I_APP\TRAE_WORK_data_YingGe\docs\screenshots\03_clea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50C">
              <a:alpha val="6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66928" y="2103120"/>
            <a:ext cx="1371600" cy="41148"/>
          </a:xfrm>
          <a:prstGeom prst="rect">
            <a:avLst/>
          </a:prstGeom>
          <a:solidFill>
            <a:srgbClr val="C08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66928" y="2231136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7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收阵 · 谢谢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6928" y="310896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D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欢迎试玩《踏鼓》，一起把英歌舞的节奏打出来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370332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8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游戏工程开源：https://github.com/shuda-li/YingGeGame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576072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7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小组 ｜ 李舒达（组长）· 李玉赫 · 陈圣源 · 陈东阳 · 李佳泰 · 沈豫辉 · 梁铭贵 · 孙政彰 · 吴彩云 · 翁泽荣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1107</Words>
  <Application>Microsoft Office PowerPoint</Application>
  <PresentationFormat>宽屏</PresentationFormat>
  <Paragraphs>288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踏鼓 · 英歌舞非遗数字化项目汇报</dc:title>
  <dc:subject>PptxGenJS Presentation</dc:subject>
  <dc:creator>第 8 小组</dc:creator>
  <cp:lastModifiedBy>t43494</cp:lastModifiedBy>
  <cp:revision>6</cp:revision>
  <dcterms:created xsi:type="dcterms:W3CDTF">2026-10-14T05:05:00Z</dcterms:created>
  <dcterms:modified xsi:type="dcterms:W3CDTF">2026-10-14T06:04:35Z</dcterms:modified>
</cp:coreProperties>
</file>